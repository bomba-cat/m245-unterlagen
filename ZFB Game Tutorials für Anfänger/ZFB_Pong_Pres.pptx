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568A6B9-6A03-413D-986D-3983F80FC3A3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380240" y="1391400"/>
            <a:ext cx="3287880" cy="19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4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03360" y="920160"/>
            <a:ext cx="5311800" cy="502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1380240" y="3566880"/>
            <a:ext cx="3287880" cy="17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F221C27-E7EA-46F3-8C79-0CEC10BF71AD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430488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380240" y="1391400"/>
            <a:ext cx="3321720" cy="203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4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907240" y="931680"/>
            <a:ext cx="5351040" cy="4995720"/>
          </a:xfrm>
          <a:prstGeom prst="rect">
            <a:avLst/>
          </a:prstGeom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icon to add picture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380240" y="3742920"/>
            <a:ext cx="3321720" cy="158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4C5991-E40F-4398-B587-45ED3CCACFD9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430488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dt" idx="10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1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2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599D3C-1F40-487F-97ED-B5469D6D2A18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1608480" y="1720800"/>
            <a:ext cx="8638920" cy="273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200" spc="530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624320" y="1255320"/>
            <a:ext cx="9296640" cy="10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624320" y="2419560"/>
            <a:ext cx="9296640" cy="32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6B9D73-E970-4B3F-B67B-BF5112DF8038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127080" y="1414080"/>
            <a:ext cx="1816560" cy="41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346040" y="1414080"/>
            <a:ext cx="7780320" cy="41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6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7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8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6482A9E-06D2-4D0B-93CC-9E208A42E189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620360" y="1233360"/>
            <a:ext cx="8976960" cy="10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620360" y="2419560"/>
            <a:ext cx="8976960" cy="314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9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0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1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AE9BCC9-0088-4671-8606-77BB20D5FEB9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622520" y="2413800"/>
            <a:ext cx="8084520" cy="273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2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622520" y="1351800"/>
            <a:ext cx="8084520" cy="99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2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3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4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12890F-8618-4733-8F30-F4AA3B0921C5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615680" y="1272240"/>
            <a:ext cx="9164160" cy="103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615680" y="2425320"/>
            <a:ext cx="4187880" cy="316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371280" y="2425320"/>
            <a:ext cx="4187880" cy="316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5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6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27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368333-6EE9-48EE-B8BC-127A1C1E6038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7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017360" y="600840"/>
            <a:ext cx="10078920" cy="116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017360" y="1798560"/>
            <a:ext cx="4599000" cy="6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017360" y="2777400"/>
            <a:ext cx="459900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497280" y="1798560"/>
            <a:ext cx="4599000" cy="6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497280" y="2777400"/>
            <a:ext cx="4599000" cy="32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Master text styles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dt" idx="28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7"/>
          <p:cNvSpPr>
            <a:spLocks noGrp="1"/>
          </p:cNvSpPr>
          <p:nvPr>
            <p:ph type="ftr" idx="29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8"/>
          <p:cNvSpPr>
            <a:spLocks noGrp="1"/>
          </p:cNvSpPr>
          <p:nvPr>
            <p:ph type="sldNum" idx="30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8D2C2B9-29AA-4BCB-92B5-2A06AD6CD0C9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66" name="Straight Connector 12"/>
          <p:cNvCxnSpPr/>
          <p:nvPr/>
        </p:nvCxnSpPr>
        <p:spPr>
          <a:xfrm>
            <a:off x="6571080" y="2593440"/>
            <a:ext cx="4526280" cy="720"/>
          </a:xfrm>
          <a:prstGeom prst="straightConnector1">
            <a:avLst/>
          </a:prstGeom>
          <a:ln w="38100">
            <a:solidFill>
              <a:srgbClr val="e0f53d"/>
            </a:solidFill>
            <a:round/>
          </a:ln>
        </p:spPr>
      </p:cxnSp>
      <p:cxnSp>
        <p:nvCxnSpPr>
          <p:cNvPr id="67" name="Straight Connector 14"/>
          <p:cNvCxnSpPr/>
          <p:nvPr/>
        </p:nvCxnSpPr>
        <p:spPr>
          <a:xfrm>
            <a:off x="1107360" y="2593440"/>
            <a:ext cx="4510080" cy="720"/>
          </a:xfrm>
          <a:prstGeom prst="straightConnector1">
            <a:avLst/>
          </a:prstGeom>
          <a:ln w="38100">
            <a:solidFill>
              <a:srgbClr val="e0f53d"/>
            </a:solidFill>
            <a:round/>
          </a:ln>
        </p:spPr>
      </p:cxn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e0d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620360" y="1233360"/>
            <a:ext cx="8976960" cy="10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Click to edit Master title style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dt" idx="31"/>
          </p:nvPr>
        </p:nvSpPr>
        <p:spPr>
          <a:xfrm>
            <a:off x="847800" y="619920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ftr" idx="32"/>
          </p:nvPr>
        </p:nvSpPr>
        <p:spPr>
          <a:xfrm>
            <a:off x="7286760" y="6199200"/>
            <a:ext cx="34092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sldNum" idx="33"/>
          </p:nvPr>
        </p:nvSpPr>
        <p:spPr>
          <a:xfrm>
            <a:off x="10696680" y="6199200"/>
            <a:ext cx="618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69A3520-DE80-426B-8889-CE0699408941}" type="slidenum">
              <a:rPr b="0" lang="en-US" sz="105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75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pic>
        <p:nvPicPr>
          <p:cNvPr id="76" name="Picture 3" descr="Network Technology Background"/>
          <p:cNvPicPr/>
          <p:nvPr/>
        </p:nvPicPr>
        <p:blipFill>
          <a:blip r:embed="rId1">
            <a:alphaModFix amt="50000"/>
          </a:blip>
          <a:srcRect l="0" t="0" r="0" b="3434"/>
          <a:stretch/>
        </p:blipFill>
        <p:spPr>
          <a:xfrm>
            <a:off x="0" y="-540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Freeform: 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1680" y="934560"/>
            <a:ext cx="10328760" cy="4991400"/>
          </a:xfrm>
          <a:custGeom>
            <a:avLst/>
            <a:gdLst>
              <a:gd name="textAreaLeft" fmla="*/ 0 w 10328760"/>
              <a:gd name="textAreaRight" fmla="*/ 10329480 w 10328760"/>
              <a:gd name="textAreaTop" fmla="*/ 0 h 4991400"/>
              <a:gd name="textAreaBottom" fmla="*/ 4992120 h 4991400"/>
              <a:gd name="GluePoint1X" fmla="*/ 1 w 9985794"/>
              <a:gd name="GluePoint1Y" fmla="*/ 1686702 h 4920343"/>
              <a:gd name="GluePoint2X" fmla="*/ 0 w 9985794"/>
              <a:gd name="GluePoint2Y" fmla="*/ 0 h 4920343"/>
              <a:gd name="GluePoint3X" fmla="*/ 9985794 w 9985794"/>
              <a:gd name="GluePoint3Y" fmla="*/ 0 h 4920343"/>
              <a:gd name="GluePoint4X" fmla="*/ 9985794 w 9985794"/>
              <a:gd name="GluePoint4Y" fmla="*/ 4920343 h 4920343"/>
              <a:gd name="GluePoint5X" fmla="*/ 0 w 9985794"/>
              <a:gd name="GluePoint5Y" fmla="*/ 4920343 h 4920343"/>
              <a:gd name="GluePoint6X" fmla="*/ 0 w 9985794"/>
              <a:gd name="GluePoint6Y" fmla="*/ 4119525 h 49203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9985794" h="4920343">
                <a:moveTo>
                  <a:pt x="1" y="1686702"/>
                </a:moveTo>
                <a:cubicBezTo>
                  <a:pt x="1" y="1124468"/>
                  <a:pt x="0" y="562234"/>
                  <a:pt x="0" y="0"/>
                </a:cubicBez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accent1">
                  <a:lumMod val="40000"/>
                  <a:lumOff val="60000"/>
                </a:schemeClr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76880" y="2498040"/>
            <a:ext cx="4535640" cy="201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200" spc="530" strike="noStrike" u="none" cap="all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Trade Gothic Next Cond"/>
              </a:rPr>
              <a:t>Ein Simpeles Pong spiel in C Implementieren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776880" y="4514400"/>
            <a:ext cx="4535640" cy="61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Trade Gothic Next Light"/>
              </a:rPr>
              <a:t>Mit ZFB von Bledion, Martin und Max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620360" y="1233360"/>
            <a:ext cx="8976960" cy="10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Inhaltsverzeichnis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620360" y="2419560"/>
            <a:ext cx="8976960" cy="314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Vorteile für Schüler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Was ist ZFB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Die Aufgabe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Vorführung von Pong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Vorführung der Aufgabe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620360" y="1233360"/>
            <a:ext cx="8976960" cy="10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Vorteile der Schüler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620360" y="2419560"/>
            <a:ext cx="8976960" cy="314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Einsteigerfreundlich: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 Verständlicher Einstieg in systemnahe Programmierung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Kennenlernen von C: 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Die Schüler schreiben echten C-Code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Direkter Zugriff auf Grafik und Speicher: 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Mit ZFB erleben die Schüler, wie Computer wirklich arbeiten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Fazit: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 Unsere Aufgabe bietet eine hervorragende Grundlage, um mit C und systemnaher Programmierung zu starten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620360" y="1233360"/>
            <a:ext cx="8976960" cy="10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Was ist zfb?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620360" y="2419560"/>
            <a:ext cx="8976960" cy="314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Eine </a:t>
            </a: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minimalistische Game Engine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, komplett in C geschrieben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Entwickelt für </a:t>
            </a: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maximale Einfachheit und Verständlichkeit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Abstrahiert komplexe Systemdetails 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unter Windows und Linux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Ideal für Lernprojekte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, bei denen der Fokus auf Verständnis statt Komfort liegt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360" y="1233360"/>
            <a:ext cx="8976960" cy="10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499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Die Aufgabe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1620360" y="2419560"/>
            <a:ext cx="8976960" cy="314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Die Schüler erhalten </a:t>
            </a: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mehrere PDF-Anleitungen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 mit selbst erstellten Erklärungen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Diese PDFs sind strukturiert aufgebaut – </a:t>
            </a: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vom «Hello World» bis zum fertigen Spiel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Ziel: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 ein funktionsfähiges Pong-Spiel mit ZFB erstellen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Danach: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Trade Gothic Next Light"/>
              </a:rPr>
              <a:t> Möglichkeit zur Vertiefung mit optionalen Themen (Structs, Speicherverwaltung, Framebuffer)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76880" y="2924280"/>
            <a:ext cx="5318280" cy="158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200" spc="530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Vorführung von Pong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20" y="931680"/>
            <a:ext cx="10326240" cy="499572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 useBgFill="1">
        <p:nvSpPr>
          <p:cNvPr id="90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9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560" y="936360"/>
            <a:ext cx="10324440" cy="4985280"/>
          </a:xfrm>
          <a:prstGeom prst="rect">
            <a:avLst/>
          </a:prstGeom>
          <a:noFill/>
          <a:ln w="38100">
            <a:solidFill>
              <a:srgbClr val="e0f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rade Gothic Next Light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76880" y="2924280"/>
            <a:ext cx="5318280" cy="158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200" spc="530" strike="noStrike" u="none" cap="all">
                <a:solidFill>
                  <a:schemeClr val="dk1"/>
                </a:solidFill>
                <a:effectLst/>
                <a:uFillTx/>
                <a:latin typeface="Trade Gothic Next Cond"/>
              </a:rPr>
              <a:t>Vorführung der aufgabe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LimelightVTI">
  <a:themeElements>
    <a:clrScheme name="Limelight">
      <a:dk1>
        <a:srgbClr val="000000"/>
      </a:dk1>
      <a:lt1>
        <a:srgbClr val="ffffff"/>
      </a:lt1>
      <a:dk2>
        <a:srgbClr val="23353b"/>
      </a:dk2>
      <a:lt2>
        <a:srgbClr val="e0ddd8"/>
      </a:lt2>
      <a:accent1>
        <a:srgbClr val="90a208"/>
      </a:accent1>
      <a:accent2>
        <a:srgbClr val="6a8755"/>
      </a:accent2>
      <a:accent3>
        <a:srgbClr val="49716b"/>
      </a:accent3>
      <a:accent4>
        <a:srgbClr val="a16f7c"/>
      </a:accent4>
      <a:accent5>
        <a:srgbClr val="b16455"/>
      </a:accent5>
      <a:accent6>
        <a:srgbClr val="e08350"/>
      </a:accent6>
      <a:hlink>
        <a:srgbClr val="5f864b"/>
      </a:hlink>
      <a:folHlink>
        <a:srgbClr val="3f877d"/>
      </a:folHlink>
    </a:clrScheme>
    <a:fontScheme name="Trade Gothic">
      <a:majorFont>
        <a:latin typeface="Trade Gothic Next Cond" pitchFamily="0" charset="1"/>
        <a:ea typeface=""/>
        <a:cs typeface=""/>
      </a:majorFont>
      <a:minorFont>
        <a:latin typeface="Trade Gothic Next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92</TotalTime>
  <Application>LibreOffice/25.2.4.3$Linux_X86_64 LibreOffice_project/520$Build-3</Application>
  <AppVersion>15.0000</AppVersion>
  <Words>174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2025-06-22T17:48:35Z</dcterms:created>
  <dc:creator>Max Hasselwander</dc:creator>
  <dc:description/>
  <dc:language>en-US</dc:language>
  <cp:lastModifiedBy/>
  <dcterms:modified xsi:type="dcterms:W3CDTF">2025-06-30T11:01:21Z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